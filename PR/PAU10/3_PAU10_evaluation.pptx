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45" r:id="rId1"/>
    <p:sldMasterId id="2147483847" r:id="rId2"/>
  </p:sldMasterIdLst>
  <p:notesMasterIdLst>
    <p:notesMasterId r:id="rId11"/>
  </p:notesMasterIdLst>
  <p:handoutMasterIdLst>
    <p:handoutMasterId r:id="rId12"/>
  </p:handoutMasterIdLst>
  <p:sldIdLst>
    <p:sldId id="256" r:id="rId3"/>
    <p:sldId id="278" r:id="rId4"/>
    <p:sldId id="293" r:id="rId5"/>
    <p:sldId id="292" r:id="rId6"/>
    <p:sldId id="291" r:id="rId7"/>
    <p:sldId id="290" r:id="rId8"/>
    <p:sldId id="289" r:id="rId9"/>
    <p:sldId id="288" r:id="rId10"/>
  </p:sldIdLst>
  <p:sldSz cx="12192000" cy="6858000"/>
  <p:notesSz cx="7010400" cy="92964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Geneva"/>
        <a:cs typeface="Geneva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orient="horz" pos="4065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255" userDrawn="1">
          <p15:clr>
            <a:srgbClr val="A4A3A4"/>
          </p15:clr>
        </p15:guide>
        <p15:guide id="6" pos="151" userDrawn="1">
          <p15:clr>
            <a:srgbClr val="A4A3A4"/>
          </p15:clr>
        </p15:guide>
        <p15:guide id="7" pos="7529" userDrawn="1">
          <p15:clr>
            <a:srgbClr val="A4A3A4"/>
          </p15:clr>
        </p15:guide>
        <p15:guide id="8" pos="7348" userDrawn="1">
          <p15:clr>
            <a:srgbClr val="A4A3A4"/>
          </p15:clr>
        </p15:guide>
        <p15:guide id="9" pos="3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2B87"/>
    <a:srgbClr val="282D46"/>
    <a:srgbClr val="E6500F"/>
    <a:srgbClr val="003366"/>
    <a:srgbClr val="00A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19" autoAdjust="0"/>
    <p:restoredTop sz="85695" autoAdjust="0"/>
  </p:normalViewPr>
  <p:slideViewPr>
    <p:cSldViewPr showGuides="1">
      <p:cViewPr varScale="1">
        <p:scale>
          <a:sx n="67" d="100"/>
          <a:sy n="67" d="100"/>
        </p:scale>
        <p:origin x="860" y="56"/>
      </p:cViewPr>
      <p:guideLst>
        <p:guide orient="horz" pos="119"/>
        <p:guide orient="horz" pos="4065"/>
        <p:guide orient="horz" pos="3838"/>
        <p:guide orient="horz" pos="618"/>
        <p:guide orient="horz" pos="255"/>
        <p:guide pos="151"/>
        <p:guide pos="7529"/>
        <p:guide pos="7348"/>
        <p:guide pos="3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51" d="100"/>
          <a:sy n="51" d="100"/>
        </p:scale>
        <p:origin x="1836" y="5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83E60E53-F045-4913-8E7F-6FE3146C87BC}" type="datetime1">
              <a:rPr lang="fr-FR"/>
              <a:pPr>
                <a:defRPr/>
              </a:pPr>
              <a:t>11/06/2025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BECB2C05-C35C-4C0B-AF25-D296231BACE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769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EC14C2DD-5DD3-431C-94F6-CF347C514599}" type="datetime1">
              <a:rPr lang="fr-FR"/>
              <a:pPr>
                <a:defRPr/>
              </a:pPr>
              <a:t>11/06/2025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77" tIns="46589" rIns="93177" bIns="46589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pitchFamily="-112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98679E9C-52BD-410C-8728-DAC3C47D807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7466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 pitchFamily="-65" charset="-128"/>
      </a:defRPr>
    </a:lvl1pPr>
    <a:lvl2pPr marL="4556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2pPr>
    <a:lvl3pPr marL="9128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3pPr>
    <a:lvl4pPr marL="13700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4pPr>
    <a:lvl5pPr marL="1827213" algn="l" defTabSz="455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65" charset="-128"/>
        <a:cs typeface="Geneva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26">
            <a:extLst>
              <a:ext uri="{FF2B5EF4-FFF2-40B4-BE49-F238E27FC236}">
                <a16:creationId xmlns:a16="http://schemas.microsoft.com/office/drawing/2014/main" id="{B08BD919-556F-4ED1-B4ED-7D89550C1F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429000"/>
            <a:ext cx="4151785" cy="3441700"/>
          </a:xfrm>
          <a:prstGeom prst="rect">
            <a:avLst/>
          </a:prstGeom>
        </p:spPr>
      </p:pic>
      <p:sp>
        <p:nvSpPr>
          <p:cNvPr id="28" name="Graphique 28">
            <a:extLst>
              <a:ext uri="{FF2B5EF4-FFF2-40B4-BE49-F238E27FC236}">
                <a16:creationId xmlns:a16="http://schemas.microsoft.com/office/drawing/2014/main" id="{B5CF94A3-1501-447F-8ED1-E8B13587D8C7}"/>
              </a:ext>
            </a:extLst>
          </p:cNvPr>
          <p:cNvSpPr/>
          <p:nvPr userDrawn="1"/>
        </p:nvSpPr>
        <p:spPr>
          <a:xfrm>
            <a:off x="-11648" y="0"/>
            <a:ext cx="9156700" cy="6870700"/>
          </a:xfrm>
          <a:custGeom>
            <a:avLst/>
            <a:gdLst>
              <a:gd name="connsiteX0" fmla="*/ 9525 w 9156700"/>
              <a:gd name="connsiteY0" fmla="*/ 9525 h 6870700"/>
              <a:gd name="connsiteX1" fmla="*/ 9525 w 9156700"/>
              <a:gd name="connsiteY1" fmla="*/ 3473069 h 6870700"/>
              <a:gd name="connsiteX2" fmla="*/ 3039110 w 9156700"/>
              <a:gd name="connsiteY2" fmla="*/ 5634101 h 6870700"/>
              <a:gd name="connsiteX3" fmla="*/ 3739388 w 9156700"/>
              <a:gd name="connsiteY3" fmla="*/ 6867525 h 6870700"/>
              <a:gd name="connsiteX4" fmla="*/ 9153525 w 9156700"/>
              <a:gd name="connsiteY4" fmla="*/ 6867525 h 6870700"/>
              <a:gd name="connsiteX5" fmla="*/ 9153525 w 9156700"/>
              <a:gd name="connsiteY5" fmla="*/ 9525 h 6870700"/>
              <a:gd name="connsiteX6" fmla="*/ 9525 w 9156700"/>
              <a:gd name="connsiteY6" fmla="*/ 9525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56700" h="6870700">
                <a:moveTo>
                  <a:pt x="9525" y="9525"/>
                </a:moveTo>
                <a:lnTo>
                  <a:pt x="9525" y="3473069"/>
                </a:lnTo>
                <a:lnTo>
                  <a:pt x="3039110" y="5634101"/>
                </a:lnTo>
                <a:cubicBezTo>
                  <a:pt x="3360039" y="5862955"/>
                  <a:pt x="3633597" y="6363462"/>
                  <a:pt x="3739388" y="6867525"/>
                </a:cubicBezTo>
                <a:lnTo>
                  <a:pt x="9153525" y="6867525"/>
                </a:lnTo>
                <a:lnTo>
                  <a:pt x="9153525" y="9525"/>
                </a:lnTo>
                <a:lnTo>
                  <a:pt x="9525" y="952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fr-FR" dirty="0"/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672BA899-2ACA-48D8-A4B4-B160AD3312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682826" y="2640659"/>
            <a:ext cx="28803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orme libre : forme 31">
            <a:extLst>
              <a:ext uri="{FF2B5EF4-FFF2-40B4-BE49-F238E27FC236}">
                <a16:creationId xmlns:a16="http://schemas.microsoft.com/office/drawing/2014/main" id="{3391E982-9368-4880-91D6-A2D504647DE8}"/>
              </a:ext>
            </a:extLst>
          </p:cNvPr>
          <p:cNvSpPr/>
          <p:nvPr userDrawn="1"/>
        </p:nvSpPr>
        <p:spPr bwMode="auto">
          <a:xfrm>
            <a:off x="0" y="2683892"/>
            <a:ext cx="1326123" cy="1572225"/>
          </a:xfrm>
          <a:custGeom>
            <a:avLst/>
            <a:gdLst>
              <a:gd name="connsiteX0" fmla="*/ 0 w 1326123"/>
              <a:gd name="connsiteY0" fmla="*/ 0 h 1641153"/>
              <a:gd name="connsiteX1" fmla="*/ 1152632 w 1326123"/>
              <a:gd name="connsiteY1" fmla="*/ 822191 h 1641153"/>
              <a:gd name="connsiteX2" fmla="*/ 1326123 w 1326123"/>
              <a:gd name="connsiteY2" fmla="*/ 1207706 h 1641153"/>
              <a:gd name="connsiteX3" fmla="*/ 1326123 w 1326123"/>
              <a:gd name="connsiteY3" fmla="*/ 1641153 h 1641153"/>
              <a:gd name="connsiteX4" fmla="*/ 0 w 1326123"/>
              <a:gd name="connsiteY4" fmla="*/ 695259 h 1641153"/>
              <a:gd name="connsiteX5" fmla="*/ 0 w 1326123"/>
              <a:gd name="connsiteY5" fmla="*/ 0 h 164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6123" h="1641153">
                <a:moveTo>
                  <a:pt x="0" y="0"/>
                </a:moveTo>
                <a:lnTo>
                  <a:pt x="1152632" y="822191"/>
                </a:lnTo>
                <a:cubicBezTo>
                  <a:pt x="1248494" y="890516"/>
                  <a:pt x="1326123" y="1063161"/>
                  <a:pt x="1326123" y="1207706"/>
                </a:cubicBezTo>
                <a:lnTo>
                  <a:pt x="1326123" y="1641153"/>
                </a:lnTo>
                <a:lnTo>
                  <a:pt x="0" y="695259"/>
                </a:lnTo>
                <a:lnTo>
                  <a:pt x="0" y="0"/>
                </a:lnTo>
                <a:close/>
              </a:path>
            </a:pathLst>
          </a:custGeom>
          <a:solidFill>
            <a:srgbClr val="872B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34" name="Forme libre : forme 33">
            <a:extLst>
              <a:ext uri="{FF2B5EF4-FFF2-40B4-BE49-F238E27FC236}">
                <a16:creationId xmlns:a16="http://schemas.microsoft.com/office/drawing/2014/main" id="{9870D595-A7CA-4941-911D-565B8A4CEAD8}"/>
              </a:ext>
            </a:extLst>
          </p:cNvPr>
          <p:cNvSpPr/>
          <p:nvPr userDrawn="1"/>
        </p:nvSpPr>
        <p:spPr bwMode="auto">
          <a:xfrm>
            <a:off x="10293613" y="0"/>
            <a:ext cx="1894517" cy="1704513"/>
          </a:xfrm>
          <a:custGeom>
            <a:avLst/>
            <a:gdLst>
              <a:gd name="connsiteX0" fmla="*/ 0 w 1894517"/>
              <a:gd name="connsiteY0" fmla="*/ 0 h 1704513"/>
              <a:gd name="connsiteX1" fmla="*/ 1239603 w 1894517"/>
              <a:gd name="connsiteY1" fmla="*/ 0 h 1704513"/>
              <a:gd name="connsiteX2" fmla="*/ 1894517 w 1894517"/>
              <a:gd name="connsiteY2" fmla="*/ 467161 h 1704513"/>
              <a:gd name="connsiteX3" fmla="*/ 1894517 w 1894517"/>
              <a:gd name="connsiteY3" fmla="*/ 1704513 h 1704513"/>
              <a:gd name="connsiteX4" fmla="*/ 298591 w 1894517"/>
              <a:gd name="connsiteY4" fmla="*/ 566174 h 1704513"/>
              <a:gd name="connsiteX5" fmla="*/ 14110 w 1894517"/>
              <a:gd name="connsiteY5" fmla="*/ 78637 h 1704513"/>
              <a:gd name="connsiteX6" fmla="*/ 0 w 1894517"/>
              <a:gd name="connsiteY6" fmla="*/ 0 h 1704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4517" h="1704513">
                <a:moveTo>
                  <a:pt x="0" y="0"/>
                </a:moveTo>
                <a:lnTo>
                  <a:pt x="1239603" y="0"/>
                </a:lnTo>
                <a:lnTo>
                  <a:pt x="1894517" y="467161"/>
                </a:lnTo>
                <a:lnTo>
                  <a:pt x="1894517" y="1704513"/>
                </a:lnTo>
                <a:lnTo>
                  <a:pt x="298591" y="566174"/>
                </a:lnTo>
                <a:cubicBezTo>
                  <a:pt x="170766" y="474976"/>
                  <a:pt x="61003" y="279347"/>
                  <a:pt x="14110" y="78637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FC674926-2D17-4FB5-B3F0-84235A873478}"/>
              </a:ext>
            </a:extLst>
          </p:cNvPr>
          <p:cNvSpPr/>
          <p:nvPr userDrawn="1"/>
        </p:nvSpPr>
        <p:spPr bwMode="auto">
          <a:xfrm>
            <a:off x="10645212" y="673269"/>
            <a:ext cx="1542918" cy="1568643"/>
          </a:xfrm>
          <a:custGeom>
            <a:avLst/>
            <a:gdLst>
              <a:gd name="connsiteX0" fmla="*/ 0 w 1542918"/>
              <a:gd name="connsiteY0" fmla="*/ 0 h 1568643"/>
              <a:gd name="connsiteX1" fmla="*/ 1542918 w 1542918"/>
              <a:gd name="connsiteY1" fmla="*/ 1100589 h 1568643"/>
              <a:gd name="connsiteX2" fmla="*/ 1542918 w 1542918"/>
              <a:gd name="connsiteY2" fmla="*/ 1568643 h 1568643"/>
              <a:gd name="connsiteX3" fmla="*/ 116802 w 1542918"/>
              <a:gd name="connsiteY3" fmla="*/ 551425 h 1568643"/>
              <a:gd name="connsiteX4" fmla="*/ 0 w 1542918"/>
              <a:gd name="connsiteY4" fmla="*/ 291815 h 1568643"/>
              <a:gd name="connsiteX5" fmla="*/ 0 w 1542918"/>
              <a:gd name="connsiteY5" fmla="*/ 0 h 1568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42918" h="1568643">
                <a:moveTo>
                  <a:pt x="0" y="0"/>
                </a:moveTo>
                <a:lnTo>
                  <a:pt x="1542918" y="1100589"/>
                </a:lnTo>
                <a:lnTo>
                  <a:pt x="1542918" y="1568643"/>
                </a:lnTo>
                <a:lnTo>
                  <a:pt x="116802" y="551425"/>
                </a:lnTo>
                <a:cubicBezTo>
                  <a:pt x="52327" y="505425"/>
                  <a:pt x="0" y="389193"/>
                  <a:pt x="0" y="291815"/>
                </a:cubicBezTo>
                <a:lnTo>
                  <a:pt x="0" y="0"/>
                </a:lnTo>
                <a:close/>
              </a:path>
            </a:pathLst>
          </a:custGeom>
          <a:solidFill>
            <a:srgbClr val="872B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pic>
        <p:nvPicPr>
          <p:cNvPr id="37" name="Graphique 36">
            <a:extLst>
              <a:ext uri="{FF2B5EF4-FFF2-40B4-BE49-F238E27FC236}">
                <a16:creationId xmlns:a16="http://schemas.microsoft.com/office/drawing/2014/main" id="{B1B89541-4DA6-414C-8CFF-5F301AC9BE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78400" y="828000"/>
            <a:ext cx="3503416" cy="1260000"/>
          </a:xfrm>
          <a:prstGeom prst="rect">
            <a:avLst/>
          </a:prstGeom>
        </p:spPr>
      </p:pic>
      <p:pic>
        <p:nvPicPr>
          <p:cNvPr id="9" name="Graphique 8">
            <a:extLst>
              <a:ext uri="{FF2B5EF4-FFF2-40B4-BE49-F238E27FC236}">
                <a16:creationId xmlns:a16="http://schemas.microsoft.com/office/drawing/2014/main" id="{437321FA-338C-422C-9C26-CA32AA01B5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1339" y="2301286"/>
            <a:ext cx="4515853" cy="22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69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1 (vie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AD20E5-F7F8-4CA6-80D4-F91EB9D67868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8" name="Espace réservé de la date 3">
            <a:extLst>
              <a:ext uri="{FF2B5EF4-FFF2-40B4-BE49-F238E27FC236}">
                <a16:creationId xmlns:a16="http://schemas.microsoft.com/office/drawing/2014/main" id="{F2BD57AD-288E-43EA-857A-DE57AFD9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CF0E306D-7F6F-49DC-8F29-77E409F24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63B4BC9D-0808-434A-8ABA-FC0B6CB547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3587" y="6528661"/>
            <a:ext cx="4232869" cy="2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38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57CB317-36AD-4FD0-A5D7-70E30575AF96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F61B3035-A038-4345-B4F6-59533BB4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1FA4B939-5938-4EB5-A7B3-9C35FCB9D8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4F94E9B3-8398-4640-8057-771DF37B20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384" y="468000"/>
            <a:ext cx="1201175" cy="432000"/>
          </a:xfrm>
          <a:prstGeom prst="rect">
            <a:avLst/>
          </a:prstGeom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74250065-520D-42DD-8275-A858F3198C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3587" y="6528661"/>
            <a:ext cx="4232869" cy="2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2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érieur 03 (avec pied de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C0C749-1663-4AAA-A23A-02C868F1A85D}"/>
              </a:ext>
            </a:extLst>
          </p:cNvPr>
          <p:cNvSpPr/>
          <p:nvPr userDrawn="1"/>
        </p:nvSpPr>
        <p:spPr bwMode="auto">
          <a:xfrm>
            <a:off x="335360" y="188913"/>
            <a:ext cx="11521280" cy="62642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12700" dir="2700000" algn="tl" rotWithShape="0">
              <a:prstClr val="black">
                <a:alpha val="7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fr-FR">
              <a:latin typeface="Times" pitchFamily="-65" charset="0"/>
              <a:ea typeface="Geneva" pitchFamily="-112" charset="-128"/>
              <a:cs typeface="+mn-cs"/>
            </a:endParaRP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6C9AD06C-2E35-4690-9C66-C85620E9FB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3040" y="6475413"/>
            <a:ext cx="2133600" cy="261937"/>
          </a:xfrm>
        </p:spPr>
        <p:txBody>
          <a:bodyPr/>
          <a:lstStyle>
            <a:lvl1pPr algn="r"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057730D-33D3-4E01-89F1-F172E4714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335360" y="6475413"/>
            <a:ext cx="622300" cy="261937"/>
          </a:xfrm>
        </p:spPr>
        <p:txBody>
          <a:bodyPr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8A995EA-4E48-44AF-AC4A-9FDDF5FE50B4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pic>
        <p:nvPicPr>
          <p:cNvPr id="7" name="Graphique 18">
            <a:extLst>
              <a:ext uri="{FF2B5EF4-FFF2-40B4-BE49-F238E27FC236}">
                <a16:creationId xmlns:a16="http://schemas.microsoft.com/office/drawing/2014/main" id="{D78E3860-7791-40AD-9C1E-E2FC327DCF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1384" y="468000"/>
            <a:ext cx="1201175" cy="432000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0DD32C7C-44AC-46FC-A267-75F104265BC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3587" y="6528661"/>
            <a:ext cx="4232869" cy="212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54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Geneva" pitchFamily="-65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9pPr>
    </p:titleStyle>
    <p:bodyStyle>
      <a:lvl1pPr marL="341313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Calibri" panose="020F0502020204030204" pitchFamily="34" charset="0"/>
        </a:defRPr>
      </a:lvl1pPr>
      <a:lvl2pPr marL="7413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2pPr>
      <a:lvl3pPr marL="114141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3pPr>
      <a:lvl4pPr marL="1598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4pPr>
      <a:lvl5pPr marL="205581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5B2A3F2-4D6B-4741-AB18-88F91A5506B1}"/>
              </a:ext>
            </a:extLst>
          </p:cNvPr>
          <p:cNvSpPr/>
          <p:nvPr userDrawn="1"/>
        </p:nvSpPr>
        <p:spPr bwMode="auto">
          <a:xfrm>
            <a:off x="0" y="0"/>
            <a:ext cx="12191998" cy="6858000"/>
          </a:xfrm>
          <a:prstGeom prst="rect">
            <a:avLst/>
          </a:prstGeom>
          <a:solidFill>
            <a:srgbClr val="872B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3A430F23-141A-473D-9818-D02C336D983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Modifiez le style du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672AC796-621A-4FC2-A086-62652550E58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81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Modifiez les styles du texte du masque</a:t>
            </a:r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01B449A0-5518-4DF0-B810-EBA111CEF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81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FD5EA77E-AB17-4CAB-887D-E55E2CC9E38D}" type="datetimeFigureOut">
              <a:rPr lang="fr-FR"/>
              <a:pPr>
                <a:defRPr/>
              </a:pPr>
              <a:t>11/06/2025</a:t>
            </a:fld>
            <a:endParaRPr lang="fr-FR" dirty="0"/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A585C3FC-96D7-4F9B-A092-0E50EE6F4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27C340CD-E54E-400B-B41C-D31ECE9A8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Geneva" pitchFamily="-112" charset="-128"/>
                <a:cs typeface="+mn-cs"/>
              </a:defRPr>
            </a:lvl1pPr>
          </a:lstStyle>
          <a:p>
            <a:pPr>
              <a:defRPr/>
            </a:pPr>
            <a:fld id="{17138208-ADF5-48B3-82F2-0E377832A01B}" type="slidenum">
              <a:rPr lang="fr-FR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03BF4D16-6242-4E19-AC04-ACDDA0FED3FA}"/>
              </a:ext>
            </a:extLst>
          </p:cNvPr>
          <p:cNvSpPr/>
          <p:nvPr userDrawn="1"/>
        </p:nvSpPr>
        <p:spPr bwMode="auto">
          <a:xfrm>
            <a:off x="1" y="3861048"/>
            <a:ext cx="211823" cy="613372"/>
          </a:xfrm>
          <a:custGeom>
            <a:avLst/>
            <a:gdLst>
              <a:gd name="connsiteX0" fmla="*/ 0 w 151451"/>
              <a:gd name="connsiteY0" fmla="*/ 0 h 438554"/>
              <a:gd name="connsiteX1" fmla="*/ 68969 w 151451"/>
              <a:gd name="connsiteY1" fmla="*/ 49197 h 438554"/>
              <a:gd name="connsiteX2" fmla="*/ 151451 w 151451"/>
              <a:gd name="connsiteY2" fmla="*/ 232482 h 438554"/>
              <a:gd name="connsiteX3" fmla="*/ 151451 w 151451"/>
              <a:gd name="connsiteY3" fmla="*/ 438554 h 438554"/>
              <a:gd name="connsiteX4" fmla="*/ 0 w 151451"/>
              <a:gd name="connsiteY4" fmla="*/ 330528 h 438554"/>
              <a:gd name="connsiteX5" fmla="*/ 0 w 151451"/>
              <a:gd name="connsiteY5" fmla="*/ 0 h 438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51" h="438554">
                <a:moveTo>
                  <a:pt x="0" y="0"/>
                </a:moveTo>
                <a:lnTo>
                  <a:pt x="68969" y="49197"/>
                </a:lnTo>
                <a:cubicBezTo>
                  <a:pt x="114544" y="81681"/>
                  <a:pt x="151451" y="163761"/>
                  <a:pt x="151451" y="232482"/>
                </a:cubicBezTo>
                <a:lnTo>
                  <a:pt x="151451" y="438554"/>
                </a:lnTo>
                <a:lnTo>
                  <a:pt x="0" y="33052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B3A711B0-2A9B-4FA5-9DB4-9733EBF912B7}"/>
              </a:ext>
            </a:extLst>
          </p:cNvPr>
          <p:cNvSpPr/>
          <p:nvPr userDrawn="1"/>
        </p:nvSpPr>
        <p:spPr bwMode="auto">
          <a:xfrm>
            <a:off x="0" y="4406828"/>
            <a:ext cx="211824" cy="1362669"/>
          </a:xfrm>
          <a:custGeom>
            <a:avLst/>
            <a:gdLst>
              <a:gd name="connsiteX0" fmla="*/ 0 w 211824"/>
              <a:gd name="connsiteY0" fmla="*/ 0 h 1362669"/>
              <a:gd name="connsiteX1" fmla="*/ 23283 w 211824"/>
              <a:gd name="connsiteY1" fmla="*/ 27507 h 1362669"/>
              <a:gd name="connsiteX2" fmla="*/ 211824 w 211824"/>
              <a:gd name="connsiteY2" fmla="*/ 591275 h 1362669"/>
              <a:gd name="connsiteX3" fmla="*/ 211824 w 211824"/>
              <a:gd name="connsiteY3" fmla="*/ 1362669 h 1362669"/>
              <a:gd name="connsiteX4" fmla="*/ 0 w 211824"/>
              <a:gd name="connsiteY4" fmla="*/ 1211580 h 1362669"/>
              <a:gd name="connsiteX5" fmla="*/ 0 w 211824"/>
              <a:gd name="connsiteY5" fmla="*/ 0 h 1362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824" h="1362669">
                <a:moveTo>
                  <a:pt x="0" y="0"/>
                </a:moveTo>
                <a:lnTo>
                  <a:pt x="23283" y="27507"/>
                </a:lnTo>
                <a:cubicBezTo>
                  <a:pt x="134112" y="177279"/>
                  <a:pt x="211824" y="398342"/>
                  <a:pt x="211824" y="591275"/>
                </a:cubicBezTo>
                <a:lnTo>
                  <a:pt x="211824" y="1362669"/>
                </a:lnTo>
                <a:lnTo>
                  <a:pt x="0" y="1211580"/>
                </a:ln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4" name="Forme libre : forme 23">
            <a:extLst>
              <a:ext uri="{FF2B5EF4-FFF2-40B4-BE49-F238E27FC236}">
                <a16:creationId xmlns:a16="http://schemas.microsoft.com/office/drawing/2014/main" id="{B3B80A10-00CA-4B5F-ABF9-C8661A46EF9C}"/>
              </a:ext>
            </a:extLst>
          </p:cNvPr>
          <p:cNvSpPr/>
          <p:nvPr userDrawn="1"/>
        </p:nvSpPr>
        <p:spPr bwMode="auto">
          <a:xfrm>
            <a:off x="0" y="5803529"/>
            <a:ext cx="1077934" cy="1054471"/>
          </a:xfrm>
          <a:custGeom>
            <a:avLst/>
            <a:gdLst>
              <a:gd name="connsiteX0" fmla="*/ 0 w 1077934"/>
              <a:gd name="connsiteY0" fmla="*/ 0 h 1054471"/>
              <a:gd name="connsiteX1" fmla="*/ 887196 w 1077934"/>
              <a:gd name="connsiteY1" fmla="*/ 632851 h 1054471"/>
              <a:gd name="connsiteX2" fmla="*/ 1074223 w 1077934"/>
              <a:gd name="connsiteY2" fmla="*/ 996248 h 1054471"/>
              <a:gd name="connsiteX3" fmla="*/ 1077934 w 1077934"/>
              <a:gd name="connsiteY3" fmla="*/ 1054471 h 1054471"/>
              <a:gd name="connsiteX4" fmla="*/ 405804 w 1077934"/>
              <a:gd name="connsiteY4" fmla="*/ 1054471 h 1054471"/>
              <a:gd name="connsiteX5" fmla="*/ 0 w 1077934"/>
              <a:gd name="connsiteY5" fmla="*/ 765020 h 1054471"/>
              <a:gd name="connsiteX6" fmla="*/ 0 w 1077934"/>
              <a:gd name="connsiteY6" fmla="*/ 0 h 105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7934" h="1054471">
                <a:moveTo>
                  <a:pt x="0" y="0"/>
                </a:moveTo>
                <a:lnTo>
                  <a:pt x="887196" y="632851"/>
                </a:lnTo>
                <a:cubicBezTo>
                  <a:pt x="979494" y="698636"/>
                  <a:pt x="1056431" y="852306"/>
                  <a:pt x="1074223" y="996248"/>
                </a:cubicBezTo>
                <a:lnTo>
                  <a:pt x="1077934" y="1054471"/>
                </a:lnTo>
                <a:lnTo>
                  <a:pt x="405804" y="1054471"/>
                </a:lnTo>
                <a:lnTo>
                  <a:pt x="0" y="7650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EDA1C906-327A-4DF1-BF0A-2D8AC46ED8B4}"/>
              </a:ext>
            </a:extLst>
          </p:cNvPr>
          <p:cNvSpPr/>
          <p:nvPr userDrawn="1"/>
        </p:nvSpPr>
        <p:spPr bwMode="auto">
          <a:xfrm>
            <a:off x="11150471" y="1"/>
            <a:ext cx="1041529" cy="932293"/>
          </a:xfrm>
          <a:custGeom>
            <a:avLst/>
            <a:gdLst>
              <a:gd name="connsiteX0" fmla="*/ 0 w 1041529"/>
              <a:gd name="connsiteY0" fmla="*/ 0 h 932293"/>
              <a:gd name="connsiteX1" fmla="*/ 1041529 w 1041529"/>
              <a:gd name="connsiteY1" fmla="*/ 0 h 932293"/>
              <a:gd name="connsiteX2" fmla="*/ 1041529 w 1041529"/>
              <a:gd name="connsiteY2" fmla="*/ 932293 h 932293"/>
              <a:gd name="connsiteX3" fmla="*/ 247215 w 1041529"/>
              <a:gd name="connsiteY3" fmla="*/ 365726 h 932293"/>
              <a:gd name="connsiteX4" fmla="*/ 28924 w 1041529"/>
              <a:gd name="connsiteY4" fmla="*/ 73526 h 932293"/>
              <a:gd name="connsiteX5" fmla="*/ 0 w 1041529"/>
              <a:gd name="connsiteY5" fmla="*/ 0 h 93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1529" h="932293">
                <a:moveTo>
                  <a:pt x="0" y="0"/>
                </a:moveTo>
                <a:lnTo>
                  <a:pt x="1041529" y="0"/>
                </a:lnTo>
                <a:lnTo>
                  <a:pt x="1041529" y="932293"/>
                </a:lnTo>
                <a:lnTo>
                  <a:pt x="247215" y="365726"/>
                </a:lnTo>
                <a:cubicBezTo>
                  <a:pt x="161998" y="304928"/>
                  <a:pt x="84809" y="197715"/>
                  <a:pt x="28924" y="73526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71355CE-436E-4975-A253-F91E3D8D5C8F}"/>
              </a:ext>
            </a:extLst>
          </p:cNvPr>
          <p:cNvSpPr/>
          <p:nvPr userDrawn="1"/>
        </p:nvSpPr>
        <p:spPr bwMode="auto">
          <a:xfrm>
            <a:off x="11707042" y="692685"/>
            <a:ext cx="484956" cy="886957"/>
          </a:xfrm>
          <a:custGeom>
            <a:avLst/>
            <a:gdLst>
              <a:gd name="connsiteX0" fmla="*/ 0 w 484956"/>
              <a:gd name="connsiteY0" fmla="*/ 0 h 886957"/>
              <a:gd name="connsiteX1" fmla="*/ 484956 w 484956"/>
              <a:gd name="connsiteY1" fmla="*/ 345927 h 886957"/>
              <a:gd name="connsiteX2" fmla="*/ 484956 w 484956"/>
              <a:gd name="connsiteY2" fmla="*/ 886957 h 886957"/>
              <a:gd name="connsiteX3" fmla="*/ 135000 w 484956"/>
              <a:gd name="connsiteY3" fmla="*/ 637341 h 886957"/>
              <a:gd name="connsiteX4" fmla="*/ 0 w 484956"/>
              <a:gd name="connsiteY4" fmla="*/ 337282 h 886957"/>
              <a:gd name="connsiteX5" fmla="*/ 0 w 484956"/>
              <a:gd name="connsiteY5" fmla="*/ 0 h 886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4956" h="886957">
                <a:moveTo>
                  <a:pt x="0" y="0"/>
                </a:moveTo>
                <a:lnTo>
                  <a:pt x="484956" y="345927"/>
                </a:lnTo>
                <a:lnTo>
                  <a:pt x="484956" y="886957"/>
                </a:lnTo>
                <a:lnTo>
                  <a:pt x="135000" y="637341"/>
                </a:lnTo>
                <a:cubicBezTo>
                  <a:pt x="60480" y="584174"/>
                  <a:pt x="0" y="449832"/>
                  <a:pt x="0" y="33728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91673781-313A-4198-9971-8943BA63EB0B}"/>
              </a:ext>
            </a:extLst>
          </p:cNvPr>
          <p:cNvSpPr/>
          <p:nvPr userDrawn="1"/>
        </p:nvSpPr>
        <p:spPr bwMode="auto">
          <a:xfrm>
            <a:off x="11881016" y="1744752"/>
            <a:ext cx="310983" cy="1459242"/>
          </a:xfrm>
          <a:custGeom>
            <a:avLst/>
            <a:gdLst>
              <a:gd name="connsiteX0" fmla="*/ 0 w 310983"/>
              <a:gd name="connsiteY0" fmla="*/ 0 h 1459242"/>
              <a:gd name="connsiteX1" fmla="*/ 310983 w 310983"/>
              <a:gd name="connsiteY1" fmla="*/ 221829 h 1459242"/>
              <a:gd name="connsiteX2" fmla="*/ 310983 w 310983"/>
              <a:gd name="connsiteY2" fmla="*/ 1459242 h 1459242"/>
              <a:gd name="connsiteX3" fmla="*/ 308757 w 310983"/>
              <a:gd name="connsiteY3" fmla="*/ 1457654 h 1459242"/>
              <a:gd name="connsiteX4" fmla="*/ 0 w 310983"/>
              <a:gd name="connsiteY4" fmla="*/ 771394 h 1459242"/>
              <a:gd name="connsiteX5" fmla="*/ 0 w 310983"/>
              <a:gd name="connsiteY5" fmla="*/ 0 h 1459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0983" h="1459242">
                <a:moveTo>
                  <a:pt x="0" y="0"/>
                </a:moveTo>
                <a:lnTo>
                  <a:pt x="310983" y="221829"/>
                </a:lnTo>
                <a:lnTo>
                  <a:pt x="310983" y="1459242"/>
                </a:lnTo>
                <a:lnTo>
                  <a:pt x="308757" y="1457654"/>
                </a:lnTo>
                <a:cubicBezTo>
                  <a:pt x="138323" y="1336057"/>
                  <a:pt x="0" y="1028804"/>
                  <a:pt x="0" y="771394"/>
                </a:cubicBezTo>
                <a:lnTo>
                  <a:pt x="0" y="0"/>
                </a:lnTo>
                <a:close/>
              </a:path>
            </a:pathLst>
          </a:custGeom>
          <a:solidFill>
            <a:srgbClr val="282D4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383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Geneva" pitchFamily="-65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Geneva" pitchFamily="-65" charset="-128"/>
          <a:cs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-65" charset="0"/>
        </a:defRPr>
      </a:lvl9pPr>
    </p:titleStyle>
    <p:bodyStyle>
      <a:lvl1pPr marL="341313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Calibri" panose="020F0502020204030204" pitchFamily="34" charset="0"/>
        </a:defRPr>
      </a:lvl1pPr>
      <a:lvl2pPr marL="741363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2pPr>
      <a:lvl3pPr marL="1141413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3pPr>
      <a:lvl4pPr marL="159861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4pPr>
      <a:lvl5pPr marL="205581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ea typeface="Geneva" pitchFamily="-65" charset="-128"/>
          <a:cs typeface="Genev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Geneva" pitchFamily="-65" charset="-128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87AD15B-AA39-42DB-BFC8-B0FC62D74C9E}"/>
              </a:ext>
            </a:extLst>
          </p:cNvPr>
          <p:cNvSpPr txBox="1"/>
          <p:nvPr/>
        </p:nvSpPr>
        <p:spPr>
          <a:xfrm>
            <a:off x="1847528" y="3284984"/>
            <a:ext cx="9361040" cy="2720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 3A – Automatique</a:t>
            </a:r>
          </a:p>
          <a:p>
            <a:pPr algn="ctr"/>
            <a:r>
              <a:rPr lang="fr-FR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PAU10</a:t>
            </a:r>
          </a:p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fr-FR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800" b="1" dirty="0" err="1"/>
              <a:t>Modalité</a:t>
            </a:r>
            <a:r>
              <a:rPr lang="en-GB" sz="2800" b="1" dirty="0"/>
              <a:t> </a:t>
            </a:r>
            <a:r>
              <a:rPr lang="en-GB" sz="2800" b="1" dirty="0" err="1"/>
              <a:t>d’évaluation</a:t>
            </a:r>
            <a:r>
              <a:rPr lang="en-GB" sz="2800" b="1" dirty="0"/>
              <a:t> et plan </a:t>
            </a:r>
            <a:r>
              <a:rPr lang="en-GB" sz="2800" b="1" dirty="0" err="1"/>
              <a:t>général</a:t>
            </a:r>
            <a:r>
              <a:rPr lang="en-GB" sz="2800" b="1" dirty="0"/>
              <a:t> de la presentation</a:t>
            </a:r>
          </a:p>
          <a:p>
            <a:pPr lvl="0" algn="ctr">
              <a:lnSpc>
                <a:spcPct val="115000"/>
              </a:lnSpc>
              <a:spcAft>
                <a:spcPts val="0"/>
              </a:spcAft>
            </a:pPr>
            <a:endParaRPr lang="en-GB" sz="2800" b="1" dirty="0"/>
          </a:p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ionela.prodan@lcis.grenoble-inp.fr</a:t>
            </a:r>
          </a:p>
          <a:p>
            <a:pPr algn="ctr"/>
            <a:endParaRPr lang="fr-FR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fr-FR" sz="16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3742754-3E24-49BB-AA1F-B44061E34852}"/>
              </a:ext>
            </a:extLst>
          </p:cNvPr>
          <p:cNvSpPr txBox="1"/>
          <p:nvPr/>
        </p:nvSpPr>
        <p:spPr>
          <a:xfrm>
            <a:off x="3851920" y="6186531"/>
            <a:ext cx="8004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25/05/2025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15E5C62-AE44-40C3-B7B0-BD51F1B197AF}"/>
              </a:ext>
            </a:extLst>
          </p:cNvPr>
          <p:cNvCxnSpPr>
            <a:cxnSpLocks/>
          </p:cNvCxnSpPr>
          <p:nvPr/>
        </p:nvCxnSpPr>
        <p:spPr bwMode="auto">
          <a:xfrm>
            <a:off x="3275856" y="5877272"/>
            <a:ext cx="89161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Compétences à évaluer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335360" y="1348464"/>
            <a:ext cx="11521280" cy="5136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Ce projet a pour objectif final de développer les compétences des étudiants en régulation des systèmes linéaires: </a:t>
            </a:r>
          </a:p>
          <a:p>
            <a:endParaRPr lang="fr-FR" dirty="0"/>
          </a:p>
          <a:p>
            <a:pPr lvl="1" algn="just"/>
            <a:r>
              <a:rPr lang="fr-FR" b="1" dirty="0"/>
              <a:t>Compétence 1 : </a:t>
            </a:r>
            <a:r>
              <a:rPr lang="fr-FR" dirty="0"/>
              <a:t>Analyser un système ou un besoin; </a:t>
            </a:r>
          </a:p>
          <a:p>
            <a:pPr lvl="1" algn="just"/>
            <a:r>
              <a:rPr lang="fr-FR" b="1" dirty="0"/>
              <a:t>Compétence 2 : </a:t>
            </a:r>
            <a:r>
              <a:rPr lang="fr-FR" dirty="0"/>
              <a:t>Concevoir un système cyber-physique; </a:t>
            </a:r>
          </a:p>
          <a:p>
            <a:pPr lvl="1" algn="just"/>
            <a:r>
              <a:rPr lang="fr-FR" b="1" dirty="0"/>
              <a:t>Compétence 3 : </a:t>
            </a:r>
            <a:r>
              <a:rPr lang="fr-FR" dirty="0"/>
              <a:t>Développer un système cyber-physique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fr-FR" b="1"/>
              <a:t>Compétence 4 </a:t>
            </a:r>
            <a:r>
              <a:rPr lang="fr-FR" b="1" dirty="0"/>
              <a:t>: </a:t>
            </a:r>
            <a:r>
              <a:rPr lang="fr-FR" dirty="0"/>
              <a:t>Caractériser un système cyber-physique; </a:t>
            </a:r>
          </a:p>
          <a:p>
            <a:pPr lvl="1" algn="just"/>
            <a:endParaRPr lang="fr-FR" b="1" kern="1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fr-FR" b="1" kern="100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en-GB" dirty="0" err="1"/>
              <a:t>Modalité</a:t>
            </a:r>
            <a:r>
              <a:rPr lang="en-GB" dirty="0"/>
              <a:t> </a:t>
            </a:r>
            <a:r>
              <a:rPr lang="en-GB" dirty="0" err="1"/>
              <a:t>d’évaluation</a:t>
            </a:r>
            <a:endParaRPr lang="en-GB" dirty="0"/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/>
              <a:t>20% sur votre implication en séance</a:t>
            </a: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/>
              <a:t>80% pour une présentation de 20 minutes par groupe, incluant une session de questions</a:t>
            </a:r>
            <a:endParaRPr lang="en-GB" dirty="0"/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fr-FR" b="1" kern="100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F664F-A71C-47B6-938C-CFCE845EC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328" y="1752789"/>
            <a:ext cx="2232248" cy="1492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A44D9D-9333-493B-B9B0-EC2B497A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440" y="3429000"/>
            <a:ext cx="1559177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0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presentation - 1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b="1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4342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15000"/>
              </a:lnSpc>
              <a:spcAft>
                <a:spcPts val="0"/>
              </a:spcAft>
              <a:buAutoNum type="arabicPeriod"/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 des exigences et étude du système 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 min, 2 points)</a:t>
            </a:r>
          </a:p>
          <a:p>
            <a:r>
              <a:rPr lang="fr-FR" dirty="0"/>
              <a:t>Compréhension du besoin et du rôle global du système d’asservissement dans son environnement.</a:t>
            </a:r>
            <a:endParaRPr lang="en-GB" sz="2000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Identifier la fonction principale du </a:t>
            </a:r>
            <a:r>
              <a:rPr lang="fr-FR" b="1" dirty="0"/>
              <a:t>QUBE-Servo 2 /Aero</a:t>
            </a:r>
            <a:endParaRPr lang="fr-FR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Décrire les interactions entre le système et son environnement (par exemple : ordinateur de commande, microcontrôleur, alimentation).</a:t>
            </a:r>
            <a:endParaRPr lang="en-GB" sz="2000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Définir les entrées (signal de commande, alimentation PWM) et les sorties (position angulaire, vitesse estimée…).</a:t>
            </a:r>
            <a:endParaRPr lang="en-GB" sz="2000" dirty="0"/>
          </a:p>
          <a:p>
            <a:pPr lvl="1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fr-FR" b="1" kern="100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fr-FR" b="1" kern="100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F664F-A71C-47B6-938C-CFCE845EC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6" y="4829127"/>
            <a:ext cx="2232248" cy="1492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A44D9D-9333-493B-B9B0-EC2B497AA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941" y="4829127"/>
            <a:ext cx="1832156" cy="160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9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presentation - 2 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417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Analyse de l'architecture du système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 min, 4 points)</a:t>
            </a:r>
          </a:p>
          <a:p>
            <a:r>
              <a:rPr lang="fr-FR" dirty="0"/>
              <a:t>Étude de la structure matérielle et fonctionnelle du système.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Identifier les composants physiques : moteurs </a:t>
            </a:r>
            <a:r>
              <a:rPr lang="fr-FR" dirty="0" err="1"/>
              <a:t>brushless</a:t>
            </a:r>
            <a:r>
              <a:rPr lang="fr-FR" dirty="0"/>
              <a:t>, encodeurs, amplificateur PWM…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Décrire le rôle de chaque module d’interface : </a:t>
            </a:r>
            <a:r>
              <a:rPr lang="fr-FR" b="1" dirty="0"/>
              <a:t>QFLEX 2 USB</a:t>
            </a:r>
            <a:r>
              <a:rPr lang="fr-FR" dirty="0"/>
              <a:t> (commande par PC) et </a:t>
            </a:r>
            <a:r>
              <a:rPr lang="fr-FR" b="1" dirty="0"/>
              <a:t>QFLEX 2 Embedded</a:t>
            </a:r>
            <a:r>
              <a:rPr lang="fr-FR" dirty="0"/>
              <a:t> (commande par Arduino).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Comprendre les interfaces de communication (USB, SPI à 4 fils) et les signaux électriques échangés.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Analyser les blocs fonctionnels du système : acquisition des signaux, traitement/commande, actionnement.</a:t>
            </a:r>
            <a:endParaRPr lang="en-GB" dirty="0"/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446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presentation - 3 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4158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Réalisation/Compréhension des modèles mathématiques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 min, 2 points)</a:t>
            </a:r>
          </a:p>
          <a:p>
            <a:r>
              <a:rPr lang="fr-FR" dirty="0"/>
              <a:t>Capacité à interpréter, analyser et exploiter un modèle mathématique fourni du système physique.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Analyser la </a:t>
            </a:r>
            <a:r>
              <a:rPr lang="fr-FR" b="1" dirty="0"/>
              <a:t>stabilité du système</a:t>
            </a:r>
            <a:r>
              <a:rPr lang="fr-FR" dirty="0"/>
              <a:t> à partir du modèle : identification des pôles, conditions de stabilité.</a:t>
            </a:r>
            <a:endParaRPr lang="en-GB" sz="2000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Réaliser une </a:t>
            </a:r>
            <a:r>
              <a:rPr lang="fr-FR" b="1" dirty="0"/>
              <a:t>étude fréquentielle</a:t>
            </a:r>
            <a:r>
              <a:rPr lang="fr-FR" dirty="0"/>
              <a:t> (réponse en fréquence, diagramme de Bode) pour anticiper le comportement du système.</a:t>
            </a:r>
            <a:endParaRPr lang="en-GB" sz="2000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Identifier les grandeurs mesurées (ex : position angulaire) et celles qui doivent être estimées (ex : vitesse angulaire…).</a:t>
            </a:r>
            <a:endParaRPr lang="en-GB" sz="2000" dirty="0"/>
          </a:p>
          <a:p>
            <a:pPr lvl="1" indent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651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</a:t>
            </a:r>
            <a:r>
              <a:rPr lang="en-GB" sz="3200" b="1" dirty="0" err="1"/>
              <a:t>présentation</a:t>
            </a:r>
            <a:r>
              <a:rPr lang="en-GB" sz="3200" b="1" dirty="0"/>
              <a:t> - 4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3804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Conception des lois de commande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(4 min, 4 points)</a:t>
            </a:r>
          </a:p>
          <a:p>
            <a:r>
              <a:rPr lang="fr-FR" dirty="0"/>
              <a:t>Développement de stratégies de commande pour atteindre les objectifs de positionnement.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Proposer une loi de commande adaptée à la régulation de la position angulaire / position en lacet (PID, placement de pôles, etc.).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Justifier le choix du type de régulateur selon les performances visées (stabilité, rapidité, précision).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Intégrer la mesure ou l’estimation de la vitesse dans la boucle de commande si nécessaire.</a:t>
            </a:r>
            <a:endParaRPr lang="en-GB" dirty="0"/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073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</a:t>
            </a:r>
            <a:r>
              <a:rPr lang="en-GB" sz="3200" b="1" dirty="0" err="1"/>
              <a:t>présentation</a:t>
            </a:r>
            <a:r>
              <a:rPr lang="en-GB" sz="3200" b="1" dirty="0"/>
              <a:t> - 5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3435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Simulations des algorithmes de commande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 min, 4 points)</a:t>
            </a:r>
          </a:p>
          <a:p>
            <a:r>
              <a:rPr lang="fr-FR" dirty="0"/>
              <a:t>Validation des stratégies de commande par simulation.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Implémenter le modèle du système et les lois de commande dans l’environnement de simulation QUARC avec MATLAB/Simulink.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Simuler le comportement du moteur commandé / </a:t>
            </a:r>
            <a:r>
              <a:rPr lang="en-GB" dirty="0" err="1"/>
              <a:t>système</a:t>
            </a:r>
            <a:r>
              <a:rPr lang="en-GB" dirty="0"/>
              <a:t> </a:t>
            </a:r>
            <a:r>
              <a:rPr lang="en-GB" dirty="0" err="1"/>
              <a:t>aérospatiale</a:t>
            </a:r>
            <a:r>
              <a:rPr lang="en-GB" dirty="0"/>
              <a:t> a deux rotors</a:t>
            </a:r>
            <a:r>
              <a:rPr lang="fr-FR" dirty="0"/>
              <a:t> (avec et sans perturbations).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Analyser la réponse du système (temps de réponse, dépassement, erreur permanente).</a:t>
            </a:r>
            <a:endParaRPr lang="en-GB" dirty="0"/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55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56B475A-F24B-4025-B12A-92E11121B883}"/>
              </a:ext>
            </a:extLst>
          </p:cNvPr>
          <p:cNvSpPr txBox="1">
            <a:spLocks/>
          </p:cNvSpPr>
          <p:nvPr/>
        </p:nvSpPr>
        <p:spPr bwMode="auto">
          <a:xfrm>
            <a:off x="335360" y="1268759"/>
            <a:ext cx="3024336" cy="72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Geneva" pitchFamily="-65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pitchFamily="-65" charset="-128"/>
              </a:defRPr>
            </a:lvl9pPr>
          </a:lstStyle>
          <a:p>
            <a:pPr marL="0" indent="0" algn="ctr">
              <a:lnSpc>
                <a:spcPts val="2400"/>
              </a:lnSpc>
              <a:spcBef>
                <a:spcPts val="0"/>
              </a:spcBef>
              <a:buNone/>
              <a:defRPr/>
            </a:pPr>
            <a:r>
              <a:rPr lang="fr-FR" sz="1800" b="1" dirty="0">
                <a:solidFill>
                  <a:srgbClr val="C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fr-FR" altLang="fr-FR" sz="1600" kern="0" dirty="0">
              <a:solidFill>
                <a:srgbClr val="C00000"/>
              </a:solidFill>
              <a:latin typeface="Arial" panose="020B0604020202020204" pitchFamily="34" charset="0"/>
              <a:ea typeface="ＭＳ Ｐゴシック" pitchFamily="-110" charset="-128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D134AEF-A0B2-4BDA-9293-E9C4B0D97E78}"/>
              </a:ext>
            </a:extLst>
          </p:cNvPr>
          <p:cNvSpPr txBox="1">
            <a:spLocks/>
          </p:cNvSpPr>
          <p:nvPr/>
        </p:nvSpPr>
        <p:spPr bwMode="auto">
          <a:xfrm>
            <a:off x="1415480" y="260351"/>
            <a:ext cx="1029702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anose="020F0502020204030204" pitchFamily="34" charset="0"/>
                <a:ea typeface="Geneva" pitchFamily="-65" charset="-128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pitchFamily="34" charset="0"/>
                <a:ea typeface="Geneva" pitchFamily="-65" charset="-128"/>
                <a:cs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" pitchFamily="-65" charset="0"/>
              </a:defRPr>
            </a:lvl9pPr>
          </a:lstStyle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3200" b="1" dirty="0"/>
              <a:t>lan </a:t>
            </a:r>
            <a:r>
              <a:rPr lang="en-GB" sz="3200" b="1" dirty="0" err="1"/>
              <a:t>général</a:t>
            </a:r>
            <a:r>
              <a:rPr lang="en-GB" sz="3200" b="1" dirty="0"/>
              <a:t> de la </a:t>
            </a:r>
            <a:r>
              <a:rPr lang="en-GB" sz="3200" b="1" dirty="0" err="1"/>
              <a:t>présentation</a:t>
            </a:r>
            <a:r>
              <a:rPr lang="en-GB" sz="3200" b="1" dirty="0"/>
              <a:t> - 6</a:t>
            </a:r>
            <a:r>
              <a:rPr lang="fr-FR" sz="3200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GB" sz="28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EBA341D-0F63-42EC-ADD2-1282366D91AE}"/>
              </a:ext>
            </a:extLst>
          </p:cNvPr>
          <p:cNvCxnSpPr>
            <a:cxnSpLocks/>
          </p:cNvCxnSpPr>
          <p:nvPr/>
        </p:nvCxnSpPr>
        <p:spPr>
          <a:xfrm>
            <a:off x="335360" y="981075"/>
            <a:ext cx="1152128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F0C57E7-0940-43E1-A94B-BC0422152D27}"/>
              </a:ext>
            </a:extLst>
          </p:cNvPr>
          <p:cNvSpPr/>
          <p:nvPr/>
        </p:nvSpPr>
        <p:spPr>
          <a:xfrm>
            <a:off x="551384" y="1348464"/>
            <a:ext cx="10945216" cy="417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0"/>
              </a:spcAft>
            </a:pPr>
            <a:r>
              <a:rPr lang="fr-FR" b="1" kern="1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Essais de laboratoire, tests et vérification de l'intégration </a:t>
            </a:r>
            <a:r>
              <a:rPr lang="fr-FR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 min, 4 points)</a:t>
            </a:r>
          </a:p>
          <a:p>
            <a:r>
              <a:rPr lang="fr-FR" dirty="0"/>
              <a:t>Mise en œuvre pratique de la commande et validation expérimentale.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Paramétrer le système via le </a:t>
            </a:r>
            <a:r>
              <a:rPr lang="fr-FR" b="1" dirty="0"/>
              <a:t>QFLEX 2 USB</a:t>
            </a:r>
            <a:r>
              <a:rPr lang="fr-FR" dirty="0"/>
              <a:t> ou </a:t>
            </a:r>
            <a:r>
              <a:rPr lang="fr-FR" b="1" dirty="0"/>
              <a:t>Embedded</a:t>
            </a:r>
            <a:r>
              <a:rPr lang="fr-FR" dirty="0"/>
              <a:t> selon la plateforme utilisée.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Charger l’algorithme de commande sur l’interface choisie et vérifier la réponse du système.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Comparer les résultats expérimentaux avec les résultats simulés.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Identifier les écarts et proposer des ajustements (paramètres de régulateur, filtrage de la mesure…).</a:t>
            </a:r>
            <a:endParaRPr lang="en-GB" dirty="0"/>
          </a:p>
          <a:p>
            <a:pPr marL="798513" lvl="1" indent="-342900">
              <a:buFont typeface="Arial" panose="020B0604020202020204" pitchFamily="34" charset="0"/>
              <a:buChar char="•"/>
            </a:pPr>
            <a:r>
              <a:rPr lang="fr-FR" dirty="0"/>
              <a:t>Documenter les essais réalisés, les observations et les conclusions.</a:t>
            </a:r>
            <a:endParaRPr lang="en-GB" dirty="0"/>
          </a:p>
          <a:p>
            <a:pPr lvl="0" algn="just">
              <a:lnSpc>
                <a:spcPct val="115000"/>
              </a:lnSpc>
              <a:spcAft>
                <a:spcPts val="0"/>
              </a:spcAft>
            </a:pPr>
            <a:endParaRPr lang="en-GB" sz="20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37311"/>
      </p:ext>
    </p:extLst>
  </p:cSld>
  <p:clrMapOvr>
    <a:masterClrMapping/>
  </p:clrMapOvr>
</p:sld>
</file>

<file path=ppt/theme/theme1.xml><?xml version="1.0" encoding="utf-8"?>
<a:theme xmlns:a="http://schemas.openxmlformats.org/drawingml/2006/main" name="Etablissement - Couver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 ligh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tablissement - Intérieu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 ligh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65" charset="0"/>
          </a:defRPr>
        </a:defPPr>
      </a:lstStyle>
    </a:lnDef>
  </a:objectDefaults>
  <a:extraClrSchemeLst>
    <a:extraClrScheme>
      <a:clrScheme name="Nouvelle pré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uvelle pré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uvelle pré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8000</TotalTime>
  <Words>691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ＭＳ Ｐゴシック</vt:lpstr>
      <vt:lpstr>Arial</vt:lpstr>
      <vt:lpstr>Calibri</vt:lpstr>
      <vt:lpstr>Calibri Light</vt:lpstr>
      <vt:lpstr>Geneva</vt:lpstr>
      <vt:lpstr>Times</vt:lpstr>
      <vt:lpstr>Times New Roman</vt:lpstr>
      <vt:lpstr>Etablissement - Couverture</vt:lpstr>
      <vt:lpstr>Etablissement - Intérieur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pamlemousse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SANGIORGIO Arnaud (sangiora)</dc:creator>
  <cp:lastModifiedBy>PRODAN Ionela (prodani)</cp:lastModifiedBy>
  <cp:revision>161</cp:revision>
  <cp:lastPrinted>2023-02-09T13:52:46Z</cp:lastPrinted>
  <dcterms:modified xsi:type="dcterms:W3CDTF">2025-06-10T22:08:13Z</dcterms:modified>
</cp:coreProperties>
</file>